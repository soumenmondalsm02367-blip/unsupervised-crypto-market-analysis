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5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47" autoAdjust="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B6B6D-6B65-418C-8B17-C77EDD86E7C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701F5-5229-4B7F-A6B9-D9AC67FC8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18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65C5-6569-C1FC-E337-06C211A7A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5063F-7679-64D9-A094-52F2E8726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99940-ABDD-4F3C-6461-AF33138A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2B7AA-3BB6-90BB-FD79-D25EBC18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37F16-1C29-39ED-6207-974998F1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23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B27D-4973-7CF8-1851-9AF93981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73131-3A8E-80E6-26F1-23ACEDEA1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B002B-DC01-9C87-9E58-7ADE7AC5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03EA9-3544-275F-8751-487F37448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9EDAC-0831-C9BF-8FA9-B07A5A95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57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3AB7-FF7B-D8F6-9959-7A28FBD27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C130A-DE69-DC59-BBDD-C6E9F8710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8CB4D-94CE-D509-45E3-E0D3EE15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E1756-53BC-6658-6ACD-F5F7F3F8B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FC2A7-E728-B29B-5F06-9B48F707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197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E8CAE-D3D5-B974-62DE-DC7DD5E1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78857-DFF8-196C-45E8-503242BA3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0EE9C-1577-61F8-29A8-B84A8206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B21DC-E443-2122-71F4-CE22E96DF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7B9C5-77B4-B0FC-126D-98B83174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0F777-C81C-24CB-EB35-1E543A30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92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C863-9467-3BAE-2CCF-526618D8C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4A31C-CCB9-C433-40D6-3D870D926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D0F58-1166-7EEA-6D09-A84BAE34F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649FA-B557-D7CA-2563-34D10DAB5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2F3C3-682B-5552-0D4D-DCFDA5ADF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73D374-C88B-C6BE-429F-F01147C4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D5FC5-7009-54C5-8E43-00A8167D4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5E192-1CC4-7CCE-28A6-7B4410AD6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4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8C3C-0AEA-4A7E-11DB-011D62FD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B5509-FD73-E01A-B223-AD0814F4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E47FE-4D7C-69A1-FBAB-252D5710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0E1BA-B127-8533-59C7-A3BEE464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881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E62910-5E4E-ABDE-E161-4C5386D2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83B43-9577-C8EC-8BEE-31849769B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DBB3C-EAB9-49B8-7D47-FDD6399B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722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986A1-CA61-90A4-C5CC-FB39AADE6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4A6A5-2F19-6A8B-A5CC-94F19EE2A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EE284-99F0-7A8E-8776-2879FA186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0EDF1-CCDD-15A4-8FB8-9B1C6038A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D601A-B274-8AB0-5E9A-60608DAF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BDF8F-F7EA-F54B-45DE-B2487DB7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27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49A5-6F87-60A3-88EC-9EF8C0882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B19FF-57A7-DD91-3827-339B55550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103FA-D317-25EF-543F-3DE41FA23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58751-ECB4-7D6C-2A3B-593563491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362F7-F76F-B67D-A71A-A0942D2D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607EA-1C1F-8F8E-ADE8-0ABC5AB7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873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018E-FC27-3C39-5505-1B5D3EA6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36B77-79A4-70F5-317F-38633C52B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B8ECB-DF2F-9975-7A50-69F9C553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10D78-B224-29AB-610E-622D96B30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689DB-59E4-3489-F27A-36179BD10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88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AE4AA-6BC5-4307-B9B4-0A8771C3F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1A713-3F62-D990-2CA2-BBDF533D9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EC13F-99ED-AB61-EE92-1F0BC751F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B30A3-EDE9-DAFF-2081-5A979607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C4F05-2125-7CCC-9FD3-DCED6313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64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39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2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03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F672C9-C130-0CDE-01D2-8A1E7F05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312A6-77E3-98A4-9522-AAE624E0A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C26E8-739E-0F6C-1784-73C679221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CC7A9-529B-4F36-844C-3D1945B1D344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5E20C-A6E5-3C48-1898-09D36EF75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0FA44-BBCA-E828-B2FA-ECE839CDE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17FA0-B90B-49ED-8EEC-5859399C2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288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226" y="1672142"/>
            <a:ext cx="11176631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b="1" u="sng" dirty="0">
                <a:solidFill>
                  <a:srgbClr val="000000"/>
                </a:solidFill>
                <a:highlight>
                  <a:srgbClr val="00FFFF"/>
                </a:highlight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Unsupervised Learning for Cryptocurrency Market  Analysis</a:t>
            </a:r>
            <a:endParaRPr lang="en-US" sz="3250" u="sng" dirty="0">
              <a:highlight>
                <a:srgbClr val="00FFFF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D3ACF0-64CD-4461-D553-A6C98C9B8B91}"/>
              </a:ext>
            </a:extLst>
          </p:cNvPr>
          <p:cNvSpPr/>
          <p:nvPr/>
        </p:nvSpPr>
        <p:spPr>
          <a:xfrm>
            <a:off x="0" y="6277428"/>
            <a:ext cx="12192000" cy="5805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2D86A7-2F99-F7F5-2411-02150F653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473" y="3120998"/>
            <a:ext cx="2969143" cy="23256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41EB8B-54D3-F77C-F816-9FE4AACDB1DD}"/>
              </a:ext>
            </a:extLst>
          </p:cNvPr>
          <p:cNvSpPr txBox="1"/>
          <p:nvPr/>
        </p:nvSpPr>
        <p:spPr>
          <a:xfrm>
            <a:off x="2317749" y="922238"/>
            <a:ext cx="94751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5"/>
              </a:spcAft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PT Sans Narrow" panose="020B0506020203020204" pitchFamily="34" charset="0"/>
              </a:rPr>
              <a:t>Ghani Khan Choudhury Institute of Engineering and Technology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32130-2820-23C8-F9C4-0683935B899F}"/>
              </a:ext>
            </a:extLst>
          </p:cNvPr>
          <p:cNvSpPr txBox="1"/>
          <p:nvPr/>
        </p:nvSpPr>
        <p:spPr>
          <a:xfrm>
            <a:off x="2061120" y="3060355"/>
            <a:ext cx="80697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Presented by – Soumen Mondal</a:t>
            </a:r>
          </a:p>
          <a:p>
            <a:pPr algn="l"/>
            <a:r>
              <a:rPr lang="en-US" sz="2000" dirty="0"/>
              <a:t>Roll no. – 35530824078</a:t>
            </a:r>
          </a:p>
          <a:p>
            <a:pPr algn="l"/>
            <a:r>
              <a:rPr lang="en-US" sz="2000" dirty="0"/>
              <a:t>Reg. no. – 243550120261</a:t>
            </a:r>
          </a:p>
          <a:p>
            <a:pPr algn="l"/>
            <a:r>
              <a:rPr lang="en-US" sz="2000" dirty="0"/>
              <a:t>Department – CSE (AI &amp; ML) </a:t>
            </a:r>
          </a:p>
          <a:p>
            <a:pPr algn="l"/>
            <a:r>
              <a:rPr lang="en-US" sz="2000" dirty="0"/>
              <a:t>Year – 3</a:t>
            </a:r>
            <a:r>
              <a:rPr lang="en-US" sz="2000" baseline="30000" dirty="0"/>
              <a:t>rd</a:t>
            </a:r>
            <a:r>
              <a:rPr lang="en-US" sz="2000" dirty="0"/>
              <a:t> , Sem. – 2</a:t>
            </a:r>
            <a:r>
              <a:rPr lang="en-US" sz="2000" baseline="30000" dirty="0"/>
              <a:t>nd</a:t>
            </a:r>
            <a:r>
              <a:rPr lang="en-US" sz="2000" dirty="0"/>
              <a:t> </a:t>
            </a:r>
          </a:p>
          <a:p>
            <a:pPr algn="l"/>
            <a:r>
              <a:rPr lang="en-US" sz="2000" dirty="0"/>
              <a:t>Academic Year :– 2025-26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218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892" y="855663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4000" b="1" u="sng" dirty="0">
                <a:solidFill>
                  <a:schemeClr val="accent5">
                    <a:lumMod val="75000"/>
                  </a:schemeClr>
                </a:solidFill>
                <a:highlight>
                  <a:srgbClr val="00FFFF"/>
                </a:highlight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Problem Statement</a:t>
            </a:r>
            <a:endParaRPr lang="en-US" sz="4000" u="sng" dirty="0">
              <a:solidFill>
                <a:schemeClr val="accent5">
                  <a:lumMod val="75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720010" y="1739019"/>
            <a:ext cx="10578406" cy="120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/>
              <a:t>Cryptocurrency markets generate large amounts of price data every day . However, this data has no labels such as “good” or “ bad ” . Therefore, supervised learning cannot be used . So, we apply unsupervised learning to find hidden patterns.</a:t>
            </a:r>
          </a:p>
        </p:txBody>
      </p:sp>
      <p:sp>
        <p:nvSpPr>
          <p:cNvPr id="4" name="Shape 2"/>
          <p:cNvSpPr/>
          <p:nvPr/>
        </p:nvSpPr>
        <p:spPr>
          <a:xfrm>
            <a:off x="686890" y="3534768"/>
            <a:ext cx="10869018" cy="2718394"/>
          </a:xfrm>
          <a:prstGeom prst="roundRect">
            <a:avLst>
              <a:gd name="adj" fmla="val 6496"/>
            </a:avLst>
          </a:prstGeom>
          <a:solidFill>
            <a:srgbClr val="FFFFFF"/>
          </a:solidFill>
          <a:ln w="30480">
            <a:solidFill>
              <a:srgbClr val="E5C2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36092" y="3534768"/>
            <a:ext cx="101600" cy="3087375"/>
          </a:xfrm>
          <a:prstGeom prst="roundRect">
            <a:avLst>
              <a:gd name="adj" fmla="val 78139"/>
            </a:avLst>
          </a:prstGeom>
          <a:solidFill>
            <a:srgbClr val="F04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52104" y="374917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333" b="1" u="sng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Goals</a:t>
            </a:r>
            <a:endParaRPr lang="en-US" sz="2333" b="1" u="sng" dirty="0"/>
          </a:p>
        </p:txBody>
      </p:sp>
      <p:sp>
        <p:nvSpPr>
          <p:cNvPr id="7" name="Text 5"/>
          <p:cNvSpPr/>
          <p:nvPr/>
        </p:nvSpPr>
        <p:spPr>
          <a:xfrm>
            <a:off x="952104" y="4090824"/>
            <a:ext cx="10363994" cy="1911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0985" indent="-380985">
              <a:lnSpc>
                <a:spcPts val="2375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identify market trends</a:t>
            </a:r>
          </a:p>
          <a:p>
            <a:pPr marL="380985" indent="-380985">
              <a:lnSpc>
                <a:spcPts val="2375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To detect abnormal price movements</a:t>
            </a:r>
          </a:p>
          <a:p>
            <a:pPr marL="380985" indent="-380985">
              <a:lnSpc>
                <a:spcPts val="2375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To reduce data complexity</a:t>
            </a:r>
          </a:p>
          <a:p>
            <a:pPr marL="380985" indent="-380985">
              <a:lnSpc>
                <a:spcPts val="2375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To support investment decisions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B8233-295D-34D4-5FF0-A33C1C7C7E12}"/>
              </a:ext>
            </a:extLst>
          </p:cNvPr>
          <p:cNvSpPr/>
          <p:nvPr/>
        </p:nvSpPr>
        <p:spPr>
          <a:xfrm>
            <a:off x="0" y="6253162"/>
            <a:ext cx="12192000" cy="5906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122710"/>
            <a:ext cx="820291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4000" b="1" u="sng" dirty="0">
                <a:solidFill>
                  <a:schemeClr val="accent5">
                    <a:lumMod val="75000"/>
                  </a:schemeClr>
                </a:solidFill>
                <a:highlight>
                  <a:srgbClr val="00FFFF"/>
                </a:highlight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Dataset Description (with Dummy Data)</a:t>
            </a:r>
            <a:endParaRPr lang="en-US" sz="4000" u="sng" dirty="0">
              <a:solidFill>
                <a:schemeClr val="accent5">
                  <a:lumMod val="75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92" y="2030958"/>
            <a:ext cx="10869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/>
              <a:t>We used the dataset Solana_Price_dataset created means dummy dataset . It contains daily trading information such as : Opening Price , High price , Low price , Close price , and Treading Volume  . All values are numerical and no labels are present.</a:t>
            </a:r>
          </a:p>
        </p:txBody>
      </p:sp>
      <p:sp>
        <p:nvSpPr>
          <p:cNvPr id="4" name="Shape 2"/>
          <p:cNvSpPr/>
          <p:nvPr/>
        </p:nvSpPr>
        <p:spPr>
          <a:xfrm>
            <a:off x="542222" y="3429000"/>
            <a:ext cx="10869018" cy="2504661"/>
          </a:xfrm>
          <a:prstGeom prst="roundRect">
            <a:avLst>
              <a:gd name="adj" fmla="val 3597"/>
            </a:avLst>
          </a:prstGeom>
          <a:solidFill>
            <a:srgbClr val="FFDCCC"/>
          </a:solidFill>
          <a:ln w="7620">
            <a:solidFill>
              <a:srgbClr val="E5C2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6854" y="3527128"/>
            <a:ext cx="23876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333" b="1" u="sng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Dataset Characteristics:</a:t>
            </a:r>
            <a:endParaRPr lang="en-US" sz="2333" u="sng" dirty="0"/>
          </a:p>
        </p:txBody>
      </p:sp>
      <p:sp>
        <p:nvSpPr>
          <p:cNvPr id="6" name="Text 4"/>
          <p:cNvSpPr/>
          <p:nvPr/>
        </p:nvSpPr>
        <p:spPr>
          <a:xfrm>
            <a:off x="856854" y="3822403"/>
            <a:ext cx="10478294" cy="120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66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samples: Total trading days in dataset</a:t>
            </a:r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66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Number of features: 5 (Open, High, Low, Close, Volume)</a:t>
            </a:r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66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type: Continuous numerical values</a:t>
            </a:r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66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Labels: Not available</a:t>
            </a:r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66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source: Cryptocurrency market data</a:t>
            </a:r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66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type: Unsupervised Learning</a:t>
            </a:r>
            <a:endParaRPr lang="en-US" sz="1667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F9851B-459B-1D4F-ECFF-01FC8DBAA121}"/>
              </a:ext>
            </a:extLst>
          </p:cNvPr>
          <p:cNvSpPr/>
          <p:nvPr/>
        </p:nvSpPr>
        <p:spPr>
          <a:xfrm>
            <a:off x="0" y="6253162"/>
            <a:ext cx="12192000" cy="5906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2869FE-C03B-9BEC-DB51-291D0BD78E03}"/>
              </a:ext>
            </a:extLst>
          </p:cNvPr>
          <p:cNvSpPr txBox="1"/>
          <p:nvPr/>
        </p:nvSpPr>
        <p:spPr>
          <a:xfrm>
            <a:off x="1033670" y="795130"/>
            <a:ext cx="3088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ighlight>
                  <a:srgbClr val="00FFFF"/>
                </a:highlight>
              </a:rPr>
              <a:t>Preprocessing</a:t>
            </a:r>
            <a:endParaRPr lang="en-IN" sz="4000" dirty="0">
              <a:highlight>
                <a:srgbClr val="00FFFF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EE945-C862-DDC7-157C-D7C002EEE27E}"/>
              </a:ext>
            </a:extLst>
          </p:cNvPr>
          <p:cNvSpPr txBox="1"/>
          <p:nvPr/>
        </p:nvSpPr>
        <p:spPr>
          <a:xfrm>
            <a:off x="914400" y="1689651"/>
            <a:ext cx="60762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Raw data contains different scales and noise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 preprocessing is required to improve performance.</a:t>
            </a:r>
            <a:endParaRPr lang="en-IN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DF33A7-9912-759D-79C7-3CF71A68D842}"/>
              </a:ext>
            </a:extLst>
          </p:cNvPr>
          <p:cNvSpPr/>
          <p:nvPr/>
        </p:nvSpPr>
        <p:spPr>
          <a:xfrm>
            <a:off x="1033671" y="2733261"/>
            <a:ext cx="5062330" cy="31407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Why Preprocessing is Required?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Removes noise and unwanted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Handles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Brings all features to same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Improves accuracy of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Reduces effect of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Makes data suitable for machine learning</a:t>
            </a:r>
            <a:endParaRPr lang="en-IN" sz="20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C7EB19-D117-DEA8-69BF-25AAE5A49762}"/>
              </a:ext>
            </a:extLst>
          </p:cNvPr>
          <p:cNvSpPr/>
          <p:nvPr/>
        </p:nvSpPr>
        <p:spPr>
          <a:xfrm>
            <a:off x="6818243" y="2743200"/>
            <a:ext cx="4780722" cy="317058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Preprocessing Steps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Scaling (StandardScaler)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Normalization (MinMaxScaler)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Feature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Removing unnecessary columns</a:t>
            </a:r>
            <a:endParaRPr lang="en-US" sz="2000" dirty="0">
              <a:highlight>
                <a:srgbClr val="00FFFF"/>
              </a:highlight>
            </a:endParaRPr>
          </a:p>
          <a:p>
            <a:pPr algn="ctr"/>
            <a:endParaRPr lang="en-IN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9181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FD8969-A0C0-2117-0C50-C78CDF768C1F}"/>
              </a:ext>
            </a:extLst>
          </p:cNvPr>
          <p:cNvSpPr txBox="1"/>
          <p:nvPr/>
        </p:nvSpPr>
        <p:spPr>
          <a:xfrm>
            <a:off x="824948" y="824948"/>
            <a:ext cx="42853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sng" strike="noStrike" kern="1200" cap="none" spc="0" normalizeH="0" baseline="0" noProof="0" dirty="0">
                <a:ln>
                  <a:noFill/>
                </a:ln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Dummy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968A07-23AE-2BE7-EBCA-469698F28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66" y="1779104"/>
            <a:ext cx="5379030" cy="29564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32FA82-58EE-FFE5-2169-30C161D31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78" y="1779104"/>
            <a:ext cx="5741504" cy="295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521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27D894-2566-C4EA-1CAB-12FDD4F0721C}"/>
              </a:ext>
            </a:extLst>
          </p:cNvPr>
          <p:cNvSpPr txBox="1"/>
          <p:nvPr/>
        </p:nvSpPr>
        <p:spPr>
          <a:xfrm>
            <a:off x="894522" y="904461"/>
            <a:ext cx="36243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highlight>
                  <a:srgbClr val="00FFFF"/>
                </a:highlight>
              </a:rPr>
              <a:t>Algorithms Used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6C4756-B378-2091-3CFE-DB1C065FA2D9}"/>
              </a:ext>
            </a:extLst>
          </p:cNvPr>
          <p:cNvSpPr/>
          <p:nvPr/>
        </p:nvSpPr>
        <p:spPr>
          <a:xfrm>
            <a:off x="983973" y="2693504"/>
            <a:ext cx="3279913" cy="237545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/>
              <a:t>K-Means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Groups data into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Finds market phases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91AD75-7C64-A584-52EE-D03E5DA6658E}"/>
              </a:ext>
            </a:extLst>
          </p:cNvPr>
          <p:cNvSpPr/>
          <p:nvPr/>
        </p:nvSpPr>
        <p:spPr>
          <a:xfrm>
            <a:off x="4740964" y="2693504"/>
            <a:ext cx="3187151" cy="23754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/>
              <a:t>DBSCAN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Detects abnormal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Finds crashes and spikes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12DBB7-6E05-77D1-BF8B-EFE89471A34C}"/>
              </a:ext>
            </a:extLst>
          </p:cNvPr>
          <p:cNvSpPr/>
          <p:nvPr/>
        </p:nvSpPr>
        <p:spPr>
          <a:xfrm>
            <a:off x="8405193" y="2693504"/>
            <a:ext cx="3389243" cy="237545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200" dirty="0"/>
              <a:t>RBM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Neural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Learns hidden features</a:t>
            </a:r>
          </a:p>
        </p:txBody>
      </p:sp>
    </p:spTree>
    <p:extLst>
      <p:ext uri="{BB962C8B-B14F-4D97-AF65-F5344CB8AC3E}">
        <p14:creationId xmlns:p14="http://schemas.microsoft.com/office/powerpoint/2010/main" val="61995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3873EF-303A-DE99-D509-004647829C10}"/>
              </a:ext>
            </a:extLst>
          </p:cNvPr>
          <p:cNvSpPr txBox="1"/>
          <p:nvPr/>
        </p:nvSpPr>
        <p:spPr>
          <a:xfrm>
            <a:off x="357809" y="327992"/>
            <a:ext cx="51292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highlight>
                  <a:srgbClr val="00FFFF"/>
                </a:highlight>
              </a:rPr>
              <a:t>Python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FF545-B6B7-AA39-5706-0019C3AB9FE3}"/>
              </a:ext>
            </a:extLst>
          </p:cNvPr>
          <p:cNvSpPr txBox="1"/>
          <p:nvPr/>
        </p:nvSpPr>
        <p:spPr>
          <a:xfrm>
            <a:off x="805070" y="1212574"/>
            <a:ext cx="335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9C7345-35C7-0C37-99F0-0BC411890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24" y="1133060"/>
            <a:ext cx="8967306" cy="55261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611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2C40EF-9084-F869-5ECB-3246161D8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2" y="404390"/>
            <a:ext cx="5970487" cy="6049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6046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BD6A60-B57B-1046-12DB-179E0796834A}"/>
              </a:ext>
            </a:extLst>
          </p:cNvPr>
          <p:cNvSpPr txBox="1"/>
          <p:nvPr/>
        </p:nvSpPr>
        <p:spPr>
          <a:xfrm>
            <a:off x="477078" y="616226"/>
            <a:ext cx="20275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00FFFF"/>
                </a:highlight>
              </a:rPr>
              <a:t>Results</a:t>
            </a:r>
            <a:endParaRPr lang="en-IN" sz="4000" dirty="0">
              <a:highlight>
                <a:srgbClr val="00FFFF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7343F-B3D1-2B1A-5CE8-C080DA3C8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71" y="1480930"/>
            <a:ext cx="7373379" cy="5057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2F2A9B-61A2-EBCD-948D-2C2A26E00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416" y="1711847"/>
            <a:ext cx="2219635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51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8083CE-3D9E-903F-D178-7DA962B74819}"/>
              </a:ext>
            </a:extLst>
          </p:cNvPr>
          <p:cNvSpPr txBox="1"/>
          <p:nvPr/>
        </p:nvSpPr>
        <p:spPr>
          <a:xfrm>
            <a:off x="347869" y="556591"/>
            <a:ext cx="42161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highlight>
                  <a:srgbClr val="00FFFF"/>
                </a:highlight>
              </a:rPr>
              <a:t>K-Means Clustering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928317-7B5A-1651-48A4-5139DD2A0DD9}"/>
              </a:ext>
            </a:extLst>
          </p:cNvPr>
          <p:cNvSpPr/>
          <p:nvPr/>
        </p:nvSpPr>
        <p:spPr>
          <a:xfrm>
            <a:off x="417443" y="1639956"/>
            <a:ext cx="4522304" cy="291216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graph shows clustering of Solana prices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color represents same market behavior.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clusters indicate different market phases.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7B199-ED1F-F55B-33E6-18FFE2DE0E6E}"/>
              </a:ext>
            </a:extLst>
          </p:cNvPr>
          <p:cNvSpPr txBox="1"/>
          <p:nvPr/>
        </p:nvSpPr>
        <p:spPr>
          <a:xfrm>
            <a:off x="347869" y="4740990"/>
            <a:ext cx="9885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highlight>
                  <a:srgbClr val="00FFFF"/>
                </a:highlight>
              </a:rPr>
              <a:t>Result</a:t>
            </a:r>
            <a:endParaRPr lang="en-IN" sz="2500" dirty="0">
              <a:highlight>
                <a:srgbClr val="00FFFF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48F907-7F05-D10A-1F4C-05C6A4DFF9E2}"/>
              </a:ext>
            </a:extLst>
          </p:cNvPr>
          <p:cNvSpPr txBox="1"/>
          <p:nvPr/>
        </p:nvSpPr>
        <p:spPr>
          <a:xfrm>
            <a:off x="556592" y="5218044"/>
            <a:ext cx="12490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Bullish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Bearish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7D8096-1D83-8E92-A061-F41082B65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469" y="1264477"/>
            <a:ext cx="6695661" cy="50369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5279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2D7C79-B73D-2E1F-C235-32E4200D0A37}"/>
              </a:ext>
            </a:extLst>
          </p:cNvPr>
          <p:cNvSpPr txBox="1"/>
          <p:nvPr/>
        </p:nvSpPr>
        <p:spPr>
          <a:xfrm>
            <a:off x="178905" y="437321"/>
            <a:ext cx="12264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highlight>
                  <a:srgbClr val="00FFFF"/>
                </a:highlight>
              </a:rPr>
              <a:t>DBSCAN(</a:t>
            </a:r>
            <a:r>
              <a:rPr lang="en-US" sz="2800" b="1" dirty="0">
                <a:highlight>
                  <a:srgbClr val="00FFFF"/>
                </a:highlight>
              </a:rPr>
              <a:t>Density-Based Spatial Clustering of Applications with Noise)</a:t>
            </a:r>
            <a:r>
              <a:rPr lang="en-IN" sz="2800" dirty="0">
                <a:highlight>
                  <a:srgbClr val="00FFFF"/>
                </a:highlight>
              </a:rPr>
              <a:t> Outliers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819D98-964E-2FFA-41DD-1112A0F51616}"/>
              </a:ext>
            </a:extLst>
          </p:cNvPr>
          <p:cNvSpPr/>
          <p:nvPr/>
        </p:nvSpPr>
        <p:spPr>
          <a:xfrm>
            <a:off x="496957" y="1272209"/>
            <a:ext cx="4482547" cy="28525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graph shows abnormal trading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Points marked as -1 are outliers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represent crashes or spikes.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77A2A-B141-2ED6-49E1-87D0A36B0F9E}"/>
              </a:ext>
            </a:extLst>
          </p:cNvPr>
          <p:cNvSpPr txBox="1"/>
          <p:nvPr/>
        </p:nvSpPr>
        <p:spPr>
          <a:xfrm>
            <a:off x="496957" y="4651513"/>
            <a:ext cx="9885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Result</a:t>
            </a:r>
            <a:endParaRPr kumimoji="0" lang="en-IN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FFFF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3CBF3-6718-531F-415C-CADA4D05CA1F}"/>
              </a:ext>
            </a:extLst>
          </p:cNvPr>
          <p:cNvSpPr txBox="1"/>
          <p:nvPr/>
        </p:nvSpPr>
        <p:spPr>
          <a:xfrm>
            <a:off x="765313" y="5406887"/>
            <a:ext cx="1816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Detection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E73659-654B-CFF6-9B1A-A5B17DA11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851" y="1272209"/>
            <a:ext cx="6248400" cy="4972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6307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B52289-A76B-3F8F-57B3-864B0EB822B0}"/>
              </a:ext>
            </a:extLst>
          </p:cNvPr>
          <p:cNvSpPr txBox="1"/>
          <p:nvPr/>
        </p:nvSpPr>
        <p:spPr>
          <a:xfrm>
            <a:off x="367748" y="477078"/>
            <a:ext cx="11824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highlight>
                  <a:srgbClr val="00FFFF"/>
                </a:highlight>
              </a:rPr>
              <a:t>RBM(Restricted Boltzmann Machine) Hidden Layer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5064A9-E294-0FCD-6539-004EF8D7469E}"/>
              </a:ext>
            </a:extLst>
          </p:cNvPr>
          <p:cNvSpPr/>
          <p:nvPr/>
        </p:nvSpPr>
        <p:spPr>
          <a:xfrm>
            <a:off x="621946" y="1560443"/>
            <a:ext cx="5098774" cy="268356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graph shows hidden features learned by RBM.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converts original data into new representation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points indicate similar market behavior.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4E853-4444-4AE1-87E7-B446AAAE92F4}"/>
              </a:ext>
            </a:extLst>
          </p:cNvPr>
          <p:cNvSpPr txBox="1"/>
          <p:nvPr/>
        </p:nvSpPr>
        <p:spPr>
          <a:xfrm>
            <a:off x="621946" y="4619488"/>
            <a:ext cx="9885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highlight>
                  <a:srgbClr val="00FFFF"/>
                </a:highlight>
              </a:rPr>
              <a:t>Result</a:t>
            </a:r>
            <a:endParaRPr lang="en-IN" sz="2500" dirty="0">
              <a:highlight>
                <a:srgbClr val="00FFFF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69EF9F-9085-96B0-C056-B71F5448B741}"/>
              </a:ext>
            </a:extLst>
          </p:cNvPr>
          <p:cNvSpPr txBox="1"/>
          <p:nvPr/>
        </p:nvSpPr>
        <p:spPr>
          <a:xfrm>
            <a:off x="805070" y="5367130"/>
            <a:ext cx="2008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learning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07EE2A-E287-728B-4997-90ED40594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58223"/>
            <a:ext cx="5856087" cy="3299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C3978D-DD86-E943-304B-ADCA75874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682" y="4858015"/>
            <a:ext cx="5562721" cy="164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85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425</Words>
  <Application>Microsoft Office PowerPoint</Application>
  <PresentationFormat>Widescreen</PresentationFormat>
  <Paragraphs>75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Crimson Text Bold</vt:lpstr>
      <vt:lpstr>Inter</vt:lpstr>
      <vt:lpstr>PT Sans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Soumen Mondal</dc:creator>
  <cp:lastModifiedBy>Soumen Mondal</cp:lastModifiedBy>
  <cp:revision>40</cp:revision>
  <dcterms:created xsi:type="dcterms:W3CDTF">2026-02-01T11:43:55Z</dcterms:created>
  <dcterms:modified xsi:type="dcterms:W3CDTF">2026-09-23T07:53:11Z</dcterms:modified>
</cp:coreProperties>
</file>